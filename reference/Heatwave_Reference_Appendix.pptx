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554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3000" b="1">
                <a:solidFill>
                  <a:srgbClr val="FFFFFF"/>
                </a:solidFill>
              </a:rPr>
              <a:t>Heatwave Classification — Methods, Data Dictionary &amp; 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3A5F"/>
                </a:solidFill>
              </a:rPr>
              <a:t>Appendix / reference for the presentation</a:t>
            </a:r>
          </a:p>
          <a:p>
            <a:r>
              <a:rPr sz="1200">
                <a:solidFill>
                  <a:srgbClr val="555555"/>
                </a:solidFill>
              </a:rPr>
              <a:t>Texas county-level heatwave classification  |  study period 2015–2025  |  climate baseline from 1979</a:t>
            </a:r>
          </a:p>
          <a:p>
            <a:r>
              <a:rPr sz="1100">
                <a:solidFill>
                  <a:srgbClr val="555555"/>
                </a:solidFill>
              </a:rPr>
              <a:t>Descriptive exposure classification only — not injury, worker heat dose, or official NWS advisories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What's in this appendix</a:t>
            </a:r>
          </a:p>
          <a:p>
            <a:r>
              <a:rPr sz="1200">
                <a:solidFill>
                  <a:srgbClr val="555555"/>
                </a:solidFill>
              </a:rPr>
              <a:t>A reference glossary for the methods-heavy parts of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The two heatwave definitions and the shared design choices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The heat-index metric and why it is called a 'proxy'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How thresholds, heatwave days, and events are calculated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Data dictionary — every column in every output table, with meaning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Terminology &amp; naming rationale (why we chose each name)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Statistical computations used, and key results / conclusions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Caveats &amp; limitations to state alongside any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1 · The heatwave definitions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The two definitions</a:t>
            </a:r>
          </a:p>
          <a:p>
            <a:r>
              <a:rPr sz="1200">
                <a:solidFill>
                  <a:srgbClr val="555555"/>
                </a:solidFill>
              </a:rPr>
              <a:t>Only the percentile changes between them; everything else is shared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5154930"/>
                <a:gridCol w="421767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Plain meaning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</a:rPr>
                        <a:t>Definition 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county-relative 85th-pctl daily-mean heat index, &gt;=2 consecutive days, walk-forward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days in the hottest ~15% for that county &amp; time of year, sustained &gt;=2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3A5F"/>
                          </a:solidFill>
                        </a:rPr>
                        <a:t>Definition 02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county-relative 95th-pctl daily-mean heat index, &gt;=2 consecutive days, walk-forward baseline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</a:rPr>
                        <a:t>days in the hottest ~5% for that county &amp; time of year, sustained &gt;=2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Shared design choices (both definitions)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4217670"/>
                <a:gridCol w="515493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daily-MEAN heat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the day's overall apparent-heat burden, not just the afternoon peak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Baseline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walk-forward (expanding): year Y uses 1979 … Y-1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classify each year against all history observed up to that point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Threshold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county-relative percentile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'unusually hot for THIS county and time of year'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Persistence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&gt;= 2 consecutive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a heatwave is sustained heat, not one hot day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Absolute 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none in primary (&gt;=80F floor = sensitivity)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faithful to the definition as written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Artifacts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3 confirmed RH-clip days set to missing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bad data must not create heatwave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Windows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centered 15-day (+/-7) AND calendar-month, reported side by side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test sensitivity to how the percentile is pooled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2 · The heat metric (heat-index proxy)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Heat index = 'feels-like' temperature</a:t>
            </a:r>
          </a:p>
          <a:p>
            <a:r>
              <a:rPr sz="1200">
                <a:solidFill>
                  <a:srgbClr val="555555"/>
                </a:solidFill>
              </a:rPr>
              <a:t>Tmean = (Tmax+Tmin)/2 ; mean RH = (RHmax+RHmin)/2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Combines air temperature and relative humidity into one apparent-temperature value (NWS Rothfusz regression, with the official low/high-humidity adjustment terms).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Two proxies are computed: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– daily-MEAN HI = heat_index(Tmean, mean RH)  →  used by the DEFINITIONS.  [column: derived_tmean_meanrh_hi_f]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– daily-MAX HI = heat_index(Tmax, RHmin)  →  used by the NWS proxy.  [column: derived_tmax_rhmin_hi_proxy_f]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Why 'proxy', not 'heat index':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– inputs are DAILY (Tmax/Tmin/RHmax/RHmin), not hourly-concurrent — a derived approximation, not an observed hourly maximum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– temperature (GHCN stations) and humidity (gridMET grid) have DIFFERENT spatial support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Data: temperature = NOAA GHCN-Daily; humidity = gridMET; geometry = 2020 Census TIGER/Line.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3 · How thresholds &amp; classification are computed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From weather to heatwave events — 4 steps</a:t>
            </a:r>
          </a:p>
          <a:p>
            <a:r>
              <a:rPr sz="1200">
                <a:solidFill>
                  <a:srgbClr val="555555"/>
                </a:solidFill>
              </a:rPr>
              <a:t>Walk-forward: the threshold is re-estimated every analysis year from all prior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1. THRESHOLD (per county, per calendar slot, per year): take the 85th/95th percentile of baseline heat index in the window (±7 days, or the calendar month), pooled over 1979…Y-1. → threshold_value_f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2. CANDIDATE day: daily-mean HI strictly &gt; its own threshold.  → exceedance_f = mean-HI − threshold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3. HEATWAVE day: a candidate day inside a run of &gt;= 2 consecutive calendar days (a run breaks on a missing/non-consecutive/non-candidate day).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4. HEATWAVE event: one uninterrupted run of heatwave days in one county; duration = end − start + 1.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Percentile via numpy.percentile (linear interpolation).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IDW gap-filling of missing temperature (statewide)</a:t>
            </a:r>
          </a:p>
          <a:p>
            <a:r>
              <a:rPr sz="1200">
                <a:solidFill>
                  <a:srgbClr val="555555"/>
                </a:solidFill>
              </a:rPr>
              <a:t>Why IDW: gives every county a value while down-weighting distant counties (1/d²)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Many rural counties lack station data on some/all days. Missing daily temperature is filled by INVERSE-DISTANCE WEIGHTING from surrounding counties.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For a missing county-day:  value = Σ(wᵢ·vᵢ) / Σ(wᵢ)  over counties with data that day,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– weight wᵢ = 1 / (distance)²,  distance = between county CENTROIDS (equal-area projection, EPSG:5070)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Every imputed county-day is FLAGGED (temp_imputed) so interpolated values never pass as observed.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Statewide: 12.8% of temperature county-days imputed; 22 counties had NO native station data; 93 were fully native.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4 · Data dictionary (columns by table)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Daily heatwave-day table — one row per heatwave county-date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410"/>
                <a:gridCol w="796671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 / how computed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county_fips / county_name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county identity (FIPS key; name from Census)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date / year / month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calendar date of the heatwave day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tmax_f / tmin_f / tmean_f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daily max/min/mean air temperature (°F); Tmean=(Tmax+Tmin)/2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rmin_pct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daily minimum relative humidity (%), gridMET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derived_tmean_meanrh_hi_f (hi_mean_f)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daily-mean heat-index proxy = heat_index(Tmean, mean RH)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threshold_value_f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this county-date-year's percentile threshold (°F)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exceedance_f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mean-HI − threshold (°F above the bar)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heatwave_day_flag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1 = this county-date qualifies as a heatwave day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event_id / event_duration_days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the event this day belongs to, and that event's length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temp_imputed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True if the temperature was IDW gap-filled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qc_status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data-quality label (valid / suspicious_retain / missing_input / invalid_physical)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Event table — one row per heatwave event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862"/>
                <a:gridCol w="7779258"/>
              </a:tblGrid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event_label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readable id: &lt;countyFIPS&gt;_&lt;onsetYear&gt;_&lt;seq&gt; (e.g. 48201_2023_012)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start_date / end_date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first and last day of the event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event_duration_days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integer consecutive-day length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peak_mean_hi_f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highest daily-mean HI during the event (°F)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peak_day_date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the event's hottest day (by mean HI)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peak_day_tmax_f / _tmean_f / _rmin_pct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temperature &amp; humidity on the peak day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peak_day_threshold_f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the threshold in force on the peak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tmax_max_f / tmean_mean_f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hottest Tmax during event / mean of Tmean over event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peak_exceedance_f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largest single-day exceedance (°F above threshold)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cumulative_exceedance_f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Σ positive exceedance over the event (°F·days) = anomaly 'dose'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7279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n_imputed_days / event_contains_imputed_day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how many event days used IDW-filled temperature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28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onset_year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year the event started (used to count annual events)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County-month and County-year summaries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136"/>
                <a:gridCol w="2061972"/>
                <a:gridCol w="581101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heatwave_events_started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events whose ONSET is in this month / 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heatwave_events_active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county-month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events overlapping this month (may have started earlier)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heatwave_days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heatwave days in this month / 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longest_event_duration_days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both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longest event touching this month / that year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event_ids_started / _active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county-month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the actual event labels (started vs 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first_event_start_date / last_event_end_date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county-year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first-to-last event span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heatwave_days_imputed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county-year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how many of the year's heatwave days used IDW temp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</a:rPr>
              <a:t>Month-crossing events: counted once at onset month; 'active' in every month touched; DAYS allocated to their actual month (no double-counting).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Threshold, quality-control &amp; NWS-proxy columns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6492"/>
                <a:gridCol w="731062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Column / value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threshold_value_f / n_reference_values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the percentile threshold and how many baseline obs fed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percentile / window_method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85 or 95 ; 'centered 15-day' or 'calendar-month bucket'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threshold_quality_flag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'low_n_ref' if &lt;20 baseline obs, else 'ok'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qc_status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valid / suspicious_retain / missing_input / invalid_physical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qc_rh_pin_likely_artifact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RH clipped to exactly 100% on a warm, rain-free day (bad data)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rh_pin_class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confirmed_artifact / likely_real_wet / indeterminate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nws_office / advisory_hi_f / extreme_warning_hi_f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assigned office + its advisory / extreme-warning HI thresholds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nws_advisory_threshold_met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1 if daily-max HI proxy &gt;= advisory threshold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advisory_threshold_days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annual count of advisory-threshold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verification_status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documented / sr_standard / approximate (honesty flag on thresholds)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5 · Terminology &amp; naming rationale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Why we chose each term / name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1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588"/>
                <a:gridCol w="768553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Term / choice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Why we use it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 day (county-date)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unit of analysis is one county on one date; avoids the ambiguous 'event-day'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Heatwave event (one run, one county)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keeps each real, uninterrupted heat spell as its own record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Event duration (integer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reports real calendar length; we do NOT headline a pooled average like '4.3 days'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'persistent apparent-heat anomaly'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precise label for the year-round RELATIVE construct (unusual-for-the-date, not always absolutely hot)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'proxy' (heat index, NWS)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flags values derived from daily (not hourly) data; can't reproduce official products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QA-only pooled totals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cross-county sums are sanity checks, not the headline; substance is county-level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self-describing columns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threshold_value_f, exceedance_f, n_reference_values — readable without the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</a:rPr>
                        <a:t>walk-forward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</a:rPr>
                        <a:t>names the expanding-baseline design (vs a fixed climatology)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6 · Statistical computations &amp; 7 · 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Statistical computations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588"/>
                <a:gridCol w="768553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Computation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/ why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Percentile threshold (85th/95th)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numpy.percentile of baseline HI; defines 'unusually hot for here'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Walk-forward pooling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baseline re-estimated yearly from 1979…Y-1; classify vs prior climate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Persistence run-length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consecutive-day counting with break rules; enforces the &gt;=2-day rule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Exceedance / cumulative exceedance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HI − threshold ; Σ positive exceedance = event 'dose'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IDW imputation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1/distance² centroid-weighted fill of missing temperature (flagged)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Jaccard overlap = |A∩B|/|A∪B|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how much two definitions/methods agree on WHICH days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Descriptive trend slope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linear fit of annual days vs year — descriptive only, NOT formal trend inference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Fixed-vs-walk-forward comparison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does the expanding baseline suppress later-year counts / trend?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A5F"/>
                          </a:solidFill>
                        </a:rPr>
                        <a:t>Anchor-vs-composite sensitivity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</a:rPr>
                        <a:t>how sensitive are results to the multi-station composite temperature?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Key result — Definition 01 vs 02 (statewide, 254 counties, 15-day window)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2811780"/>
                <a:gridCol w="28117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Def 01 (85th)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Def 02 (95th)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</a:rPr>
                        <a:t>pooled heatwave-days (QA)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~170,900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~52,800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</a:rPr>
                        <a:t>pooled events (QA)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~48,300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~17,400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</a:rPr>
                        <a:t>per-county heatwave days — MEDIAN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677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196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</a:rPr>
                        <a:t>per-county range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154 – 1,230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18 – 516</a:t>
                      </a:r>
                    </a:p>
                  </a:txBody>
                  <a:tcPr anchor="ctr">
                    <a:solidFill>
                      <a:srgbClr val="EFF1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</a:rPr>
              <a:t>The 95th-pctl definition yields ~1/3 the heatwave days of the 85th — it keeps only each county's most anomalous ~5% of days.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Key results &amp; conclusions</a:t>
            </a:r>
          </a:p>
          <a:p>
            <a:r>
              <a:rPr sz="1200">
                <a:solidFill>
                  <a:srgbClr val="555555"/>
                </a:solidFill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ABSOLUTE-FLOOR sensitivity: adding a mean-HI&gt;=80°F floor roughly HALVES the counts — a relative-only definition flags many sub-80°F COOL-SEASON anomaly days.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– e.g. Harris Co. December 2021 (record-warm): ~19 heatwave days at 80–85°F → ~0 under the 80°F floor.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FIXED vs WALK-FORWARD baseline: day-level Jaccard 0.92; fixed flags +6.5% more days and steeper slopes → walk-forward absorbs part of the warming signal; rankings unchanged.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ANCHOR-STATION vs composite temperature: heatwave-day Jaccard only 0.45–0.73 → the TEMPERATURE SOURCE changes results more than the baseline choice. County-to-county map texture is unreliable; trust the regional gradient.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RELATIVE vs ABSOLUTE (NWS proxy): arid El Paso/Lubbock ≈1 advisory-threshold day in 11 yrs yet many relative heatwave days; humid Houston logs 172.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DATA-QUALITY: Mar 1 2023 gridMET clipped RH=100% in 118/254 counties, inflating HI +15–24°F → confirmed artifact, set to missing.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800" b="1">
                <a:solidFill>
                  <a:srgbClr val="FFFFFF"/>
                </a:solidFill>
              </a:rPr>
              <a:t>8 · Caveats &amp; limitations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State these alongside any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Daily PROXY, not hourly apparent heat; temperature &amp; humidity have different spatial support.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Composite-station + IDW NOISE: county temperature is a changing multi-station composite plus interpolation in low-coverage counties → single-county values are noisy; regional gradients are robust.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Year-round RELATIVE construct = 'persistent apparent-heat anomaly'; ~half the flagged days are sub-80°F cool-season anomalies unless the &gt;=80°F floor is applied.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NWS proxy is APPROXIMATE (nearest-office crosswalk; most office thresholds flagged approximate) and is NOT an official advisory.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Trend slopes are DESCRIPTIVE (11 annual points) — not formal trend inference.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</a:rPr>
              <a:t>• This is EXPOSURE classification only — not an injury or worker-heat-dose 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</a:rPr>
              <a:t>Code (state-agnostic, config-driven) &amp; data: github.com/eaadeniyi/gulf_heatwave  |  Def 01 = PERCENTILES [85], Def 02 = [95]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